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MEBELCHI.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56032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  ⟋  COVER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0152" y="292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EA43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spc="-2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open what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spc="-2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Bazis can't reach.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C404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4,850 mobile-first workshops in Uzbekistan, served by no enterprise CAD on earth.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5349240"/>
            <a:ext cx="3605784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40680"/>
            <a:ext cx="3057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EA43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CHALLENGE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562356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" y="5971032"/>
            <a:ext cx="3057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Bazis market share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1584" y="5349240"/>
            <a:ext cx="3605784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5904" y="5440680"/>
            <a:ext cx="3057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428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65904" y="562356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4,850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65904" y="5971032"/>
            <a:ext cx="3057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mobile-first shops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25968" y="5349240"/>
            <a:ext cx="3605784" cy="868680"/>
          </a:xfrm>
          <a:prstGeom prst="roundRect">
            <a:avLst>
              <a:gd name="adj" fmla="val 1578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0288" y="5440680"/>
            <a:ext cx="3057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4A85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00288" y="562356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11×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400288" y="5971032"/>
            <a:ext cx="3057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0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projected on $30K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Mobile-first cabinet SaaS  ·  Starting in Uzbekistan  ·  Romchi-CTO mentored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616952" y="65653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MEBELCHI  ·  INVESTMENT MEMO  ·  MAY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MEBELCHI.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56032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INCUMBENT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0152" y="292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EA43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1783080"/>
            <a:ext cx="121889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b="1" spc="-6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95%</a:t>
            </a:r>
            <a:endParaRPr lang="en-US" sz="240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-1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Bazis owns Uzbek furniture CAD.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5212080"/>
            <a:ext cx="11274552" cy="1051560"/>
          </a:xfrm>
          <a:prstGeom prst="roundRect">
            <a:avLst>
              <a:gd name="adj" fmla="val 17391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440680"/>
            <a:ext cx="28186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EA43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5852160"/>
            <a:ext cx="2818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3C4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 MODULE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75838" y="5440680"/>
            <a:ext cx="28186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EA43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$20K+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75838" y="5852160"/>
            <a:ext cx="2818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3C4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INSTALL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4476" y="5440680"/>
            <a:ext cx="28186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EA43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5+ DAYS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94476" y="5852160"/>
            <a:ext cx="2818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3C4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 TRAINING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913114" y="5440680"/>
            <a:ext cx="28186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EA43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FACTORY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13114" y="5852160"/>
            <a:ext cx="2818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3C4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ONLY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Built for factories — and that's exactly where they're stuck.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616952" y="65653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MEBELCHI  ·  INVESTMENT MEMO  · 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MEBELCHI.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56032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OUR POSITION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0152" y="292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428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OUR WEDGE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spc="-15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different category.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C404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We're not building a cheaper Bazis.  We open a market they can't enter.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3575304" cy="228600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69080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-15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4,850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C404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mobile-first shops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2578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285F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underserved by every enterprise CAD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06824" y="3657600"/>
            <a:ext cx="3575304" cy="228600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4069080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-15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$12/mo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72584" y="493776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C404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shop ARPU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72584" y="52578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4A8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$20K install down to $12/mo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6448" y="3657600"/>
            <a:ext cx="3575304" cy="2286000"/>
          </a:xfrm>
          <a:prstGeom prst="roundRect">
            <a:avLst>
              <a:gd name="adj" fmla="val 10000"/>
            </a:avLst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22208" y="4069080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-15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mins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522208" y="4937760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C404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setup to first export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22208" y="52578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5A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vs days of Bazis training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Bazis can't follow us down — it would cannibalize their $20K install business.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16952" y="65653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MEBELCHI  ·  INVESTMENT MEMO  · 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MEBELCHI.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56032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MOAT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0152" y="292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34A85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WEDGE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1691640"/>
            <a:ext cx="12188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spc="-4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SWJ008.</a:t>
            </a:r>
            <a:endParaRPr lang="en-US" sz="140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-50" kern="0" dirty="0">
                <a:solidFill>
                  <a:srgbClr val="3C404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only API that speaks to </a:t>
            </a:r>
            <a:pPr algn="ctr" indent="0" marL="0">
              <a:buNone/>
            </a:pPr>
            <a:r>
              <a:rPr lang="en-US" sz="2200" b="1" spc="-50" kern="0" dirty="0">
                <a:solidFill>
                  <a:srgbClr val="34A85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80%</a:t>
            </a:r>
            <a:pPr algn="ctr" indent="0" marL="0">
              <a:buNone/>
            </a:pPr>
            <a:r>
              <a:rPr lang="en-US" sz="2200" spc="-50" kern="0" dirty="0">
                <a:solidFill>
                  <a:srgbClr val="3C404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of small-shop CNC drilling machines in Uzbekistan.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11274552" cy="1691640"/>
          </a:xfrm>
          <a:prstGeom prst="roundRect">
            <a:avLst>
              <a:gd name="adj" fmla="val 13514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9204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BBC0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MOAT THAT COMPOUNDS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52578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  +  SWJ008  +  114 supplier SKUs  +  sticker traceability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57607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0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Reverse-engineered.  Universal.  $0 failure cost.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Bazis won't follow — different market.  Competitors can't easily replicate.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616952" y="65653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MEBELCHI  ·  INVESTMENT MEMO  ·  MAY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MEBELCHI.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56032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PATH  ⟋ 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60152" y="292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428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PATH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15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Uzbekistan to the region.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7,500 </a:t>
            </a:r>
            <a:pPr algn="l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shops in Uzbekistan.   </a:t>
            </a:r>
            <a:pPr algn="l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30,000+ </a:t>
            </a:r>
            <a:pPr algn="l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across CIS within 5 years.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Romchi proved this playbook:  $30K MRR today in the windows vertical, expanding into Kazakhstan.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EA43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spc="-2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$30,000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57200" y="5394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one CNC drilling machine.  You own the asset.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760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$9.6K returned via lease.  2% advisor equity, milestone-vested.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0" y="4343400"/>
            <a:ext cx="3959352" cy="1874520"/>
          </a:xfrm>
          <a:prstGeom prst="roundRect">
            <a:avLst>
              <a:gd name="adj" fmla="val 975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461772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A85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PROJECTED RETURN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937760"/>
            <a:ext cx="3959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spc="-3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11×</a:t>
            </a:r>
            <a:endParaRPr lang="en-US" sz="7600" dirty="0"/>
          </a:p>
        </p:txBody>
      </p:sp>
      <p:sp>
        <p:nvSpPr>
          <p:cNvPr id="16" name="Text 14"/>
          <p:cNvSpPr/>
          <p:nvPr/>
        </p:nvSpPr>
        <p:spPr>
          <a:xfrm>
            <a:off x="7772400" y="585216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AA0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$325K total  ·  ~$10–15K net at-risk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$30K wire  ·  Lease + 2% milestone-vested equity  ·  Demo + refs on request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616952" y="65653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F63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MEBELCHI  ·  INVESTMENT MEMO  ·  MAY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Mebelchi — Moat &amp; Strategy</dc:title>
  <dc:subject>PptxGenJS Presentation</dc:subject>
  <dc:creator>Oppoq · Mebelchi</dc:creator>
  <cp:lastModifiedBy>Oppoq · Mebelchi</cp:lastModifiedBy>
  <cp:revision>1</cp:revision>
  <dcterms:created xsi:type="dcterms:W3CDTF">2026-05-29T15:36:52Z</dcterms:created>
  <dcterms:modified xsi:type="dcterms:W3CDTF">2026-05-29T15:36:52Z</dcterms:modified>
</cp:coreProperties>
</file>